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72" r:id="rId13"/>
    <p:sldId id="268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Test ROC-AUC by Model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ROC-AUC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
Tree</c:v>
                </c:pt>
                <c:pt idx="1">
                  <c:v>Random
Forest</c:v>
                </c:pt>
                <c:pt idx="2">
                  <c:v>XGBoost</c:v>
                </c:pt>
                <c:pt idx="3">
                  <c:v>Gradient
Boosting</c:v>
                </c:pt>
                <c:pt idx="4">
                  <c:v>Logistic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0.65800000000000003</c:v>
                </c:pt>
                <c:pt idx="1">
                  <c:v>0.81799999999999995</c:v>
                </c:pt>
                <c:pt idx="2">
                  <c:v>0.81899999999999995</c:v>
                </c:pt>
                <c:pt idx="3">
                  <c:v>0.83699999999999997</c:v>
                </c:pt>
                <c:pt idx="4">
                  <c:v>0.84099999999999997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FC-4F32-966D-10A718A49E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Train vs Test Accuracy (Overfitting Check)</a:t>
            </a:r>
          </a:p>
        </c:rich>
      </c:tx>
      <c:layout>
        <c:manualLayout>
          <c:xMode val="edge"/>
          <c:yMode val="edge"/>
          <c:x val="3.9542687372411796E-2"/>
          <c:y val="1.81159420289855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Random Forest</c:v>
                </c:pt>
                <c:pt idx="2">
                  <c:v>Logistic Reg.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</c:v>
                </c:pt>
                <c:pt idx="1">
                  <c:v>0.998</c:v>
                </c:pt>
                <c:pt idx="2">
                  <c:v>0.80900000000000005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77-4D58-A59C-4823B2AE05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Random Forest</c:v>
                </c:pt>
                <c:pt idx="2">
                  <c:v>Logistic Reg.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0.73799999999999999</c:v>
                </c:pt>
                <c:pt idx="1">
                  <c:v>0.78800000000000003</c:v>
                </c:pt>
                <c:pt idx="2">
                  <c:v>0.80300000000000005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77-4D58-A59C-4823B2AE0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21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3681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6503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295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6938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670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083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7797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235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9713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484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65678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444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1609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2338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469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13394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64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49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1853292" y="1921873"/>
            <a:ext cx="7778931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for</a:t>
            </a:r>
            <a:endParaRPr lang="en-US" sz="4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2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Perpared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 By Data Science Intern </a:t>
            </a: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Mishal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Sadiq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3377565" y="3948249"/>
            <a:ext cx="449199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</p:sp>
    </p:spTree>
    <p:extLst>
      <p:ext uri="{BB962C8B-B14F-4D97-AF65-F5344CB8AC3E}">
        <p14:creationId xmlns:p14="http://schemas.microsoft.com/office/powerpoint/2010/main" val="44442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complex analytical problems using advanced machine learning workflows and business intelligence.</a:t>
            </a:r>
            <a:endParaRPr lang="en-US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847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8470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 real-world, business-relevant 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types, handle missing values, remove duplicates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090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09067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business-meaningful predictive signals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7124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71246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candidate algorithms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3342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3342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search on top performers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956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49560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6052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605272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577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63440" y="5577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results into retention actions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 &amp; Justification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7,043</a:t>
            </a:r>
            <a:r>
              <a:rPr lang="en-US" sz="3000" b="1" dirty="0">
                <a:solidFill>
                  <a:srgbClr val="028090"/>
                </a:solidFill>
              </a:rPr>
              <a:t> </a:t>
            </a:r>
            <a:r>
              <a:rPr lang="en-US" sz="1400" dirty="0">
                <a:solidFill>
                  <a:srgbClr val="6B7280"/>
                </a:solidFill>
              </a:rPr>
              <a:t>customer records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21</a:t>
            </a:r>
            <a:r>
              <a:rPr lang="en-US" sz="3000" b="1" dirty="0">
                <a:solidFill>
                  <a:srgbClr val="028090"/>
                </a:solidFill>
              </a:rPr>
              <a:t> </a:t>
            </a:r>
            <a:r>
              <a:rPr lang="en-US" sz="1400" dirty="0">
                <a:solidFill>
                  <a:srgbClr val="6B7280"/>
                </a:solidFill>
              </a:rPr>
              <a:t>columns (mixed numeric + categorical)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26.5% </a:t>
            </a:r>
            <a:r>
              <a:rPr lang="en-US" sz="1400" dirty="0">
                <a:solidFill>
                  <a:srgbClr val="6B7280"/>
                </a:solidFill>
              </a:rPr>
              <a:t>churn rate (realistic class imbalance)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Sample Dataset (public, Kaggle/UCI-style)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telecommunications company's customer </a:t>
            </a:r>
            <a:r>
              <a:rPr lang="en-US" sz="13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classic, high-ROI churn-prediction business problem.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Dataset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6916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business </a:t>
            </a:r>
            <a:r>
              <a:rPr lang="en-US" sz="13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far cheaper than acquisition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651760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4688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 exercise the full preprocessing pipeline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429000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2461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 quality issues (blank TotalCharges values)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4206240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0233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forces proper use of precision / recall / AUC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4983480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8006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to clearly demonstrate overfitting (Question 01)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Insight: Who Churns?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0" descr="../outputs/business_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7097"/>
            <a:ext cx="10881360" cy="4078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and low tenure are the two strongest churn signals in the raw data.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24147" y="1210763"/>
            <a:ext cx="4537710" cy="4080510"/>
          </a:xfrm>
          <a:prstGeom prst="roundRect">
            <a:avLst>
              <a:gd name="adj" fmla="val 1495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37681" y="19431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TotalCharges from string to numeric (blanks -&gt; 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65848" y="251215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customerID (identifier, zero predictive value)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3154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Churn to binary (1 = churned)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22 exact duplicate rows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4343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7,021 clean rows, 0 missing 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55771" y="1161778"/>
            <a:ext cx="4376057" cy="4178481"/>
          </a:xfrm>
          <a:prstGeom prst="roundRect">
            <a:avLst>
              <a:gd name="adj" fmla="val 1495"/>
            </a:avLst>
          </a:prstGeom>
          <a:solidFill>
            <a:srgbClr val="F4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5737044" y="1322615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80710" y="1895747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tenure_years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51914" y="1874520"/>
            <a:ext cx="2906486" cy="577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in years (business-friendly units)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0710" y="2385605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avg_monthly_spend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14396" y="24051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/ tenure (leak-safe)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37044" y="2999559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num_services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2990373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subscribed add-on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78681" y="3511051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is_new_customer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82542" y="3502479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tenure &lt;= 3 months (highest risk)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2549" y="4169909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charge_per_service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49935" y="414439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per 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candidate algorithms, baseline + cross-validated hyperparameter tuning on the top two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720521178"/>
              </p:ext>
            </p:extLst>
          </p:nvPr>
        </p:nvGraphicFramePr>
        <p:xfrm>
          <a:off x="548640" y="146304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747930831"/>
              </p:ext>
            </p:extLst>
          </p:nvPr>
        </p:nvGraphicFramePr>
        <p:xfrm>
          <a:off x="6309360" y="14630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Logistic Regression (Tuned)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80.2%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8892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280160"/>
            <a:ext cx="2103120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6948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976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pt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50976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Gap</a:t>
            </a:r>
            <a:endParaRPr lang="en-US" sz="1100" dirty="0"/>
          </a:p>
        </p:txBody>
      </p:sp>
      <p:pic>
        <p:nvPicPr>
          <p:cNvPr id="18" name="Image 0" descr="..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30137"/>
            <a:ext cx="3840480" cy="3383280"/>
          </a:xfrm>
          <a:prstGeom prst="rect">
            <a:avLst/>
          </a:prstGeom>
        </p:spPr>
      </p:pic>
      <p:pic>
        <p:nvPicPr>
          <p:cNvPr id="19" name="Image 1" descr="../outpu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97480"/>
            <a:ext cx="3840480" cy="33832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595360" y="26974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Why this model?
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Best test ROC-AUC among all candidates, with the smallest train/test gap of any competitive </a:t>
            </a:r>
            <a:r>
              <a:rPr lang="en-US" sz="1200" dirty="0" smtClean="0">
                <a:solidFill>
                  <a:schemeClr val="accent2">
                    <a:lumMod val="75000"/>
                  </a:schemeClr>
                </a:solidFill>
              </a:rPr>
              <a:t>model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i.e., it generalizes rather than memorizes. In a churn use case, ranking customers by risk (AUC) matters more than raw accuracy.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95697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Migration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month-to-month customers to move to 1-2 year contracts with modest discounts </a:t>
            </a:r>
            <a:r>
              <a:rPr lang="en-US" sz="11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2344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46304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463040"/>
            <a:ext cx="457200" cy="398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New-Customer Onboarding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structured first-90-day engagement program; churn risk is concentrated in the first year of tenure.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2344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1463040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0" y="2057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Security &amp; Support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01000" y="24688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discounted Online Security / Tech Support add-ons to fiber customers, who churn more without them.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Autopay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50749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enrollment in automatic payment methods over electronic check, correlated with lower churn.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38404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0" y="4069080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0" y="46634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Monthly Risk Scoring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89120" y="50749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model as a monthly job; route top-decile risk customers to the retention team.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 Training Accuracy,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 Testing Accuracy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0"/>
          <p:cNvSpPr/>
          <p:nvPr/>
        </p:nvSpPr>
        <p:spPr>
          <a:xfrm>
            <a:off x="82296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01</a:t>
            </a:r>
            <a:endParaRPr lang="en-US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5760720" cy="3383280"/>
          </a:xfrm>
          <a:prstGeom prst="roundRect">
            <a:avLst>
              <a:gd name="adj" fmla="val 2162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80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Diagnosis: Overfitting (High Variance)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Text 5"/>
          <p:cNvSpPr/>
          <p:nvPr/>
        </p:nvSpPr>
        <p:spPr>
          <a:xfrm>
            <a:off x="1371600" y="34290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LOW accuracy on both sets</a:t>
            </a:r>
            <a:endParaRPr lang="en-US" sz="1250" dirty="0"/>
          </a:p>
        </p:txBody>
      </p:sp>
      <p:sp>
        <p:nvSpPr>
          <p:cNvPr id="7" name="Text 7"/>
          <p:cNvSpPr/>
          <p:nvPr/>
        </p:nvSpPr>
        <p:spPr>
          <a:xfrm>
            <a:off x="1371600" y="405079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fits training noise instead of generalizable patterns</a:t>
            </a:r>
            <a:endParaRPr lang="en-US" sz="1250" dirty="0"/>
          </a:p>
        </p:txBody>
      </p:sp>
      <p:sp>
        <p:nvSpPr>
          <p:cNvPr id="8" name="Text 9"/>
          <p:cNvSpPr/>
          <p:nvPr/>
        </p:nvSpPr>
        <p:spPr>
          <a:xfrm>
            <a:off x="1371600" y="46725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tree depth -&gt; near-perfect train, poor test score</a:t>
            </a:r>
            <a:endParaRPr lang="en-US" sz="1250" dirty="0"/>
          </a:p>
        </p:txBody>
      </p:sp>
      <p:sp>
        <p:nvSpPr>
          <p:cNvPr id="9" name="Text 11"/>
          <p:cNvSpPr/>
          <p:nvPr/>
        </p:nvSpPr>
        <p:spPr>
          <a:xfrm>
            <a:off x="1371600" y="529437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exactly: 99.8% train vs 73.8% test on 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Decision Tree</a:t>
            </a:r>
            <a:endParaRPr lang="en-US" sz="1250" dirty="0"/>
          </a:p>
        </p:txBody>
      </p:sp>
      <p:sp>
        <p:nvSpPr>
          <p:cNvPr id="10" name="Text 4"/>
          <p:cNvSpPr/>
          <p:nvPr/>
        </p:nvSpPr>
        <p:spPr>
          <a:xfrm>
            <a:off x="1097280" y="3429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•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467258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•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529437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•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6"/>
          <p:cNvSpPr/>
          <p:nvPr/>
        </p:nvSpPr>
        <p:spPr>
          <a:xfrm>
            <a:off x="1097280" y="405079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•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4" name="Image 0" descr="../outputs/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79776"/>
            <a:ext cx="466344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9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Overfitting Happens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32287" y="1256974"/>
            <a:ext cx="4730387" cy="1830106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490674" y="14574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Excess Model Capacity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0674" y="1951264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unconstrained tree can keep splitting until every leaf is pure </a:t>
            </a:r>
            <a:r>
              <a:rPr lang="en-US" sz="13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 rows instead of learning boundaries.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1" y="1261057"/>
            <a:ext cx="4500153" cy="1826024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7" name="Text 5"/>
          <p:cNvSpPr/>
          <p:nvPr/>
        </p:nvSpPr>
        <p:spPr>
          <a:xfrm>
            <a:off x="5564778" y="12953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Regularization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564778" y="184121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depth limit, minimum leaf size, or complexity penalty to discourage fitting noise.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2287" y="3686011"/>
            <a:ext cx="4788354" cy="1944733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1" y="3934533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High-Cardinality Splits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0674" y="4507666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min_samples_leaf=1 lets the tree create a leaf for a single unusual customer </a:t>
            </a:r>
            <a:r>
              <a:rPr lang="en-US" sz="13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value.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95381" y="3686011"/>
            <a:ext cx="4399733" cy="1907177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87241" y="37795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Data, Flexible Model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11315" y="4315153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categorical levels + limited rows give a flexible </a:t>
            </a:r>
            <a:endParaRPr lang="en-US" sz="1300" dirty="0" smtClean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fit spurious patterns.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to Improve Generalization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0759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(limit depth, min_samples_leaf, L1/L2 penalties, ccp_alpha pruning)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30759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(Random Forest, Gradient Boosting) to reduce variance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78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for robust hyperparameter selection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478024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478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40487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/ better training data, especially for underrepresented segments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48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575304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to remove noisy, redundant, or leaky columns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64845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648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575304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for iterative learners (boosting, neural nets)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1888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18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745736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(bootstrap aggregation) to reduce variance without adding bias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81888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818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745736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handling of class imbalance (weighting, resampling, scale_pos_weight)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Redesigning the Workflow</a:t>
            </a:r>
            <a:endParaRPr lang="en-US" sz="3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50 Million Records</a:t>
            </a:r>
            <a:endParaRPr lang="en-US" sz="3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0"/>
          <p:cNvSpPr/>
          <p:nvPr/>
        </p:nvSpPr>
        <p:spPr>
          <a:xfrm>
            <a:off x="82296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02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35182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single-machine pandas pipeline to a distributed, cost-optimized architecture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hape 3"/>
          <p:cNvSpPr/>
          <p:nvPr/>
        </p:nvSpPr>
        <p:spPr>
          <a:xfrm>
            <a:off x="347745" y="3553369"/>
            <a:ext cx="1691640" cy="1005840"/>
          </a:xfrm>
          <a:prstGeom prst="roundRect">
            <a:avLst>
              <a:gd name="adj" fmla="val 5455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pPr algn="ctr"/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</a:p>
          <a:p>
            <a:pPr algn="ctr"/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(Parquet)</a:t>
            </a:r>
            <a:endParaRPr lang="en-US" sz="1600" dirty="0"/>
          </a:p>
          <a:p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2609904" y="3553369"/>
            <a:ext cx="1691640" cy="1005840"/>
          </a:xfrm>
          <a:prstGeom prst="roundRect">
            <a:avLst>
              <a:gd name="adj" fmla="val 5455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Distributed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dirty="0"/>
          </a:p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(Spark)</a:t>
            </a:r>
            <a:endParaRPr lang="en-US" dirty="0"/>
          </a:p>
          <a:p>
            <a:endParaRPr lang="en-US" dirty="0"/>
          </a:p>
        </p:txBody>
      </p:sp>
      <p:sp>
        <p:nvSpPr>
          <p:cNvPr id="11" name="Shape 3"/>
          <p:cNvSpPr/>
          <p:nvPr/>
        </p:nvSpPr>
        <p:spPr>
          <a:xfrm>
            <a:off x="2609904" y="5029200"/>
            <a:ext cx="1691640" cy="1005840"/>
          </a:xfrm>
          <a:prstGeom prst="roundRect">
            <a:avLst>
              <a:gd name="adj" fmla="val 5455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Bayesian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</a:t>
            </a:r>
            <a:endParaRPr lang="en-US" dirty="0"/>
          </a:p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12" name="Shape 3"/>
          <p:cNvSpPr/>
          <p:nvPr/>
        </p:nvSpPr>
        <p:spPr>
          <a:xfrm>
            <a:off x="7402776" y="3558268"/>
            <a:ext cx="1691640" cy="1005840"/>
          </a:xfrm>
          <a:prstGeom prst="roundRect">
            <a:avLst>
              <a:gd name="adj" fmla="val 5455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pPr algn="ctr"/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Distributed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/Spark ML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3"/>
          <p:cNvSpPr/>
          <p:nvPr/>
        </p:nvSpPr>
        <p:spPr>
          <a:xfrm>
            <a:off x="5006340" y="3553369"/>
            <a:ext cx="1691640" cy="1005840"/>
          </a:xfrm>
          <a:prstGeom prst="roundRect">
            <a:avLst>
              <a:gd name="adj" fmla="val 5455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Feature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dirty="0"/>
          </a:p>
          <a:p>
            <a:endParaRPr lang="en-US" dirty="0"/>
          </a:p>
        </p:txBody>
      </p:sp>
      <p:sp>
        <p:nvSpPr>
          <p:cNvPr id="14" name="Shape 3"/>
          <p:cNvSpPr/>
          <p:nvPr/>
        </p:nvSpPr>
        <p:spPr>
          <a:xfrm>
            <a:off x="5006340" y="5028112"/>
            <a:ext cx="1691640" cy="1005840"/>
          </a:xfrm>
          <a:prstGeom prst="roundRect">
            <a:avLst>
              <a:gd name="adj" fmla="val 5455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dirty="0"/>
          </a:p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171700" y="3992336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561114" y="4037239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61114" y="5590904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931478" y="4056289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171700" y="5590904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19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Strategy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Delta Lake, partitioned by date or region, columnar + compressed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295144"/>
            <a:ext cx="539496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048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 / Polars / PySpark for out-of-core, lazy, distributed reads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465576"/>
            <a:ext cx="539496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7530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95344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vectorized transforms; push cleaning into the ETL/warehouse layer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36008"/>
            <a:ext cx="539496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74573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65776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computation, target/hash encoding, cached feature store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0" y="1234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/ XGBoost (hist / distributed), Spark MLlib; prototype on samples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295144"/>
            <a:ext cx="539496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048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724912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(Optuna) + successive halving, not full grid search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465576"/>
            <a:ext cx="539496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57530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895344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split, distributed metric aggregation, versioned test set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636008"/>
            <a:ext cx="539496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74573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5065776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instances, autoscaling, incremental (delta) processing only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2"/>
          <p:cNvSpPr/>
          <p:nvPr/>
        </p:nvSpPr>
        <p:spPr>
          <a:xfrm>
            <a:off x="123444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complete, reproducible churn-prediction pipeline on 7,021 real customer records</a:t>
            </a:r>
            <a:endParaRPr lang="en-US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4"/>
          <p:cNvSpPr/>
          <p:nvPr/>
        </p:nvSpPr>
        <p:spPr>
          <a:xfrm>
            <a:off x="1234440" y="2240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5 algorithms; selected Logistic Regression (Tuned) </a:t>
            </a:r>
            <a:r>
              <a:rPr lang="en-US" sz="1500" dirty="0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test accuracy, 0.841 AUC, ~0.7pt train/test gap</a:t>
            </a:r>
            <a:endParaRPr lang="en-US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6"/>
          <p:cNvSpPr/>
          <p:nvPr/>
        </p:nvSpPr>
        <p:spPr>
          <a:xfrm>
            <a:off x="123444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and fixed a classic overfitting scenario (99% train -&gt; 74% test), reduced to a ~1pt gap</a:t>
            </a:r>
            <a:endParaRPr lang="en-US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8"/>
          <p:cNvSpPr/>
          <p:nvPr/>
        </p:nvSpPr>
        <p:spPr>
          <a:xfrm>
            <a:off x="123444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contract, tenure, and service-bundle recommendations directly to the retention team</a:t>
            </a:r>
            <a:endParaRPr lang="en-US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10"/>
          <p:cNvSpPr/>
          <p:nvPr/>
        </p:nvSpPr>
        <p:spPr>
          <a:xfrm>
            <a:off x="1234440" y="4572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distributed, cost-optimized architecture to scale the same workflow to 50M+ records</a:t>
            </a:r>
            <a:endParaRPr lang="en-US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1"/>
          <p:cNvSpPr/>
          <p:nvPr/>
        </p:nvSpPr>
        <p:spPr>
          <a:xfrm>
            <a:off x="822960" y="1600200"/>
            <a:ext cx="201168" cy="2011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9" name="Shape 3"/>
          <p:cNvSpPr/>
          <p:nvPr/>
        </p:nvSpPr>
        <p:spPr>
          <a:xfrm>
            <a:off x="822960" y="2377440"/>
            <a:ext cx="201168" cy="2011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0" name="Shape 5"/>
          <p:cNvSpPr/>
          <p:nvPr/>
        </p:nvSpPr>
        <p:spPr>
          <a:xfrm>
            <a:off x="822960" y="3154680"/>
            <a:ext cx="201168" cy="2011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3931920"/>
            <a:ext cx="201168" cy="2011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4709160"/>
            <a:ext cx="201168" cy="2011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</p:spTree>
    <p:extLst>
      <p:ext uri="{BB962C8B-B14F-4D97-AF65-F5344CB8AC3E}">
        <p14:creationId xmlns:p14="http://schemas.microsoft.com/office/powerpoint/2010/main" val="260963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</TotalTime>
  <Words>978</Words>
  <Application>Microsoft Office PowerPoint</Application>
  <PresentationFormat>Widescreen</PresentationFormat>
  <Paragraphs>196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Bodoni MT</vt:lpstr>
      <vt:lpstr>Calibri</vt:lpstr>
      <vt:lpstr>Cambria</vt:lpstr>
      <vt:lpstr>Courier New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This Pc</cp:lastModifiedBy>
  <cp:revision>8</cp:revision>
  <dcterms:created xsi:type="dcterms:W3CDTF">2026-08-02T05:25:05Z</dcterms:created>
  <dcterms:modified xsi:type="dcterms:W3CDTF">2026-08-02T11:41:19Z</dcterms:modified>
</cp:coreProperties>
</file>